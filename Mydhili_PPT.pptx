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2545"/>
                </a:solidFill>
                <a:latin typeface="Calibri"/>
              </a:rPr>
              <a:t>Chi-square statistic by feature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Chi-square statistic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state</c:v>
                </c:pt>
                <c:pt idx="1">
                  <c:v>bed_occupancy_rate</c:v>
                </c:pt>
                <c:pt idx="2">
                  <c:v>icu_beds_used</c:v>
                </c:pt>
                <c:pt idx="3">
                  <c:v>total_icu_beds</c:v>
                </c:pt>
                <c:pt idx="4">
                  <c:v>inpatient_beds_used</c:v>
                </c:pt>
                <c:pt idx="5">
                  <c:v>total_beds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1875.65</c:v>
                </c:pt>
                <c:pt idx="1">
                  <c:v>1356.93</c:v>
                </c:pt>
                <c:pt idx="2">
                  <c:v>255.01</c:v>
                </c:pt>
                <c:pt idx="3">
                  <c:v>115.53</c:v>
                </c:pt>
                <c:pt idx="4">
                  <c:v>113.78</c:v>
                </c:pt>
                <c:pt idx="5">
                  <c:v>63.1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0-4F48-B934-509EE4C66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A9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2545"/>
                </a:solidFill>
                <a:latin typeface="Calibri"/>
              </a:rPr>
              <a:t>F1 score on held-out test set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Extra Trees</c:v>
                </c:pt>
                <c:pt idx="1">
                  <c:v>Logistic Reg.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XGBoost</c:v>
                </c:pt>
                <c:pt idx="5">
                  <c:v>Gradient Boost.</c:v>
                </c:pt>
                <c:pt idx="6">
                  <c:v>Stacking</c:v>
                </c:pt>
                <c:pt idx="7">
                  <c:v>LightGBM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0.94869999999999999</c:v>
                </c:pt>
                <c:pt idx="1">
                  <c:v>0.96550000000000002</c:v>
                </c:pt>
                <c:pt idx="2">
                  <c:v>0.99770000000000003</c:v>
                </c:pt>
                <c:pt idx="3">
                  <c:v>0.99850000000000005</c:v>
                </c:pt>
                <c:pt idx="4">
                  <c:v>0.99890000000000001</c:v>
                </c:pt>
                <c:pt idx="5">
                  <c:v>0.99919999999999998</c:v>
                </c:pt>
                <c:pt idx="6">
                  <c:v>0.99919999999999998</c:v>
                </c:pt>
                <c:pt idx="7">
                  <c:v>0.99919999999999998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A-9A46-863D-5519890553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A9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44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69164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Risk Assessment of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AI Models in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Logistics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10972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29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Mydhili Jeevakumar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Business School</a:t>
            </a:r>
            <a:endParaRPr lang="en-US" sz="22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Aim &amp;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029200" cy="475488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109728" cy="4754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predictive AI models in hospital capacity planning for bias, transparency, and unequal performance using real hospital data.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SUB-QUESTIONS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ML models best identify hospital resource shortages?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predictive models perform differently across hospital groups (states, capacity)?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886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XAI reveal the decision logic behind predictions?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489204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846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ethical risks emerge from deploying such models in healthcare logistics?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Research Gap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85216" y="1554480"/>
            <a:ext cx="3520440" cy="274320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" y="155448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59536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9536" y="2834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ML pipelines report aggregate metrics only; subgroup performance not disaggregated.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554480"/>
            <a:ext cx="3520440" cy="274320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4256" y="155448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08576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Opacity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834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models (boosted trees, deep nets) hide which features drive disparate outcomes.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1554480"/>
            <a:ext cx="3520440" cy="274320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3296" y="155448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57616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7616" y="2834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EU AI Act set principles; no operational tests for individual models.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2120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reproducible workflow combining statistical feature testing, multi-model comparison, ensembles, and explainability on real hospital data.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Target Variable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" y="1371600"/>
            <a:ext cx="2606040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08076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8076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sampled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6996" y="1371600"/>
            <a:ext cx="2606040" cy="13716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3396996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19,202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96996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5916" y="1371600"/>
            <a:ext cx="2606040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185916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85916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74836" y="1371600"/>
            <a:ext cx="2606040" cy="13716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8974836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/ 23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74836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class split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COVID-19 Reported Patient Impact and Hospital Capacity by Facility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facility-level weekly reports (HealthData.gov, 2025)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ICU_capacity_risk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if icu_occupancy_rate ≥ 0.90 (operational stress threshold)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total_beds, inpatient_beds_used, total_icu_beds, icu_beds_used, bed_occupancy_rate, state, collection_week_ordinal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79476" y="1554480"/>
            <a:ext cx="1828800" cy="2194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Preprocess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resolve columns, engineer rates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62556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99716" y="1554480"/>
            <a:ext cx="1828800" cy="2194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239115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Chi-square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6547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687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feature-target independence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82796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19956" y="1554480"/>
            <a:ext cx="1828800" cy="2194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31139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Train 7 Models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8571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711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XGB, GBM, ET, LGBM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03036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40196" y="1554480"/>
            <a:ext cx="1828800" cy="2194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63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Stack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595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735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 + LR meta-learner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23276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60436" y="1554480"/>
            <a:ext cx="1828800" cy="2194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815187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CV + Test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2619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9759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+ held-out 30%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43516" y="2514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980676" y="1554480"/>
            <a:ext cx="1828800" cy="2194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7211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SHAP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346436" y="2377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17836" y="25146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XGBoost predictions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4297680"/>
            <a:ext cx="10332720" cy="173736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4297680"/>
            <a:ext cx="10972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FROM SUPERVISOR FEEDBACK (APRIL 2026)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71600" y="4800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of independence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base models from 4 to 7, plus stacking ensemble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Test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tested features reject H₀ at α = 0.05. Every feature is statistically associated with the target.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9202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920240"/>
            <a:ext cx="3749040" cy="42976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25146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association: geographic context matters most.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bed_occupancy_rate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Hospital-wide pressure predicts ICU stress.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Addresses Sub-Q 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Held-Out Test Performance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371600"/>
          <a:ext cx="71323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TIE AT TOP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0.9992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0" y="2606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3840480"/>
            <a:ext cx="3657600" cy="237744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4297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0.9997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1.0000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Addresses Sub-Q 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 (XGBoost)</a:t>
            </a:r>
            <a:endParaRPr lang="en-US" sz="2800" dirty="0"/>
          </a:p>
        </p:txBody>
      </p:sp>
      <p:pic>
        <p:nvPicPr>
          <p:cNvPr id="6" name="Image 0" descr="/home/claude/work/ppt/177817689618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139471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5311" y="1417320"/>
            <a:ext cx="6586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45311" y="1874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02511" y="187452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icu_occupancy_rate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02511" y="212140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45311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02511" y="242316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total_icu_beds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02511" y="267004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size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45311" y="2971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02511" y="297180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icu_beds_used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02511" y="321868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load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45311" y="3520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02511" y="352044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bed_occupancy_rate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02511" y="376732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hospital-wide stress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45311" y="4069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02511" y="406908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total_beds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02511" y="431596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scale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45311" y="4617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602511" y="4617720"/>
            <a:ext cx="6129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indicators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02511" y="4864608"/>
            <a:ext cx="6129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context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45311" y="5852160"/>
            <a:ext cx="6586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Addresses Sub-Q 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Risks Surfaced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2356" y="1371600"/>
            <a:ext cx="5394960" cy="219456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7" name="Shape 5"/>
          <p:cNvSpPr/>
          <p:nvPr/>
        </p:nvSpPr>
        <p:spPr>
          <a:xfrm>
            <a:off x="562356" y="137160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36676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disparity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6676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has the strongest association with the target. Region-aware evaluation is essential before deployment.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1371600"/>
            <a:ext cx="5394960" cy="219456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1636" y="137160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05956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Precision-recall trade-off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05956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differ in error type: 0 vs 94 false positives. Choice is operational, not purely technical.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2356" y="3840480"/>
            <a:ext cx="5394960" cy="219456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" y="384048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" y="4023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6676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Opacity of top models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lead on F1 but are hard to audit without post-hoc tools like SHAP.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3840480"/>
            <a:ext cx="5394960" cy="2194560"/>
          </a:xfrm>
          <a:prstGeom prst="rect">
            <a:avLst/>
          </a:prstGeom>
          <a:solidFill>
            <a:srgbClr val="EEF4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1636" y="384048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05956" y="4023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05956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bias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05956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or under-resourced hospitals may report less consistently, risking under-representation.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Addresses Sub-Q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reproducible workflow on real HHS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 models tied at F1 = 0.9992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evidence of regional variation in target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audit of opaque model logic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for governance and EU AI Act readiness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multi-region datasets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explicit subgroup performance metrics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leak-aware forecasting target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post-processing fairness mitigation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deployment monitoring + governance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681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Risk Assessment of Predictive AI Models in Healthcare Logistics</dc:title>
  <dc:subject/>
  <dc:creator>Meenakshi Jeevakumar</dc:creator>
  <cp:keywords/>
  <dc:description/>
  <cp:lastModifiedBy>Meenakshi Jeevakumar</cp:lastModifiedBy>
  <cp:revision>3</cp:revision>
  <dcterms:created xsi:type="dcterms:W3CDTF">2026-05-10T20:03:12Z</dcterms:created>
  <dcterms:modified xsi:type="dcterms:W3CDTF">2026-05-11T11:40:30Z</dcterms:modified>
  <cp:category/>
</cp:coreProperties>
</file>